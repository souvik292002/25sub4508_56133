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0" r:id="rId2"/>
    <p:sldId id="4421" r:id="rId3"/>
    <p:sldId id="4422" r:id="rId4"/>
    <p:sldId id="4423" r:id="rId5"/>
    <p:sldId id="4424" r:id="rId6"/>
    <p:sldId id="4425" r:id="rId7"/>
    <p:sldId id="4426" r:id="rId8"/>
    <p:sldId id="4427" r:id="rId9"/>
    <p:sldId id="4428" r:id="rId10"/>
    <p:sldId id="4429" r:id="rId11"/>
    <p:sldId id="4430" r:id="rId12"/>
    <p:sldId id="4431" r:id="rId13"/>
    <p:sldId id="4432" r:id="rId14"/>
    <p:sldId id="4433" r:id="rId15"/>
    <p:sldId id="4434" r:id="rId16"/>
    <p:sldId id="4435" r:id="rId17"/>
    <p:sldId id="443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FBC8B65-F1EF-463F-9411-E8B64114BABF}">
          <p14:sldIdLst>
            <p14:sldId id="260"/>
            <p14:sldId id="4421"/>
            <p14:sldId id="4422"/>
            <p14:sldId id="4423"/>
            <p14:sldId id="4424"/>
            <p14:sldId id="4425"/>
            <p14:sldId id="4426"/>
            <p14:sldId id="4427"/>
            <p14:sldId id="4428"/>
            <p14:sldId id="4429"/>
            <p14:sldId id="4430"/>
            <p14:sldId id="4431"/>
            <p14:sldId id="4432"/>
            <p14:sldId id="4433"/>
            <p14:sldId id="4434"/>
            <p14:sldId id="4435"/>
            <p14:sldId id="443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87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3AD4E0-C0E2-4B75-ACD4-5E73F517213A}" v="1" dt="2026-02-12T09:15:29.7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494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83ABB-A641-41B3-815B-0BF716117969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64667-E269-4945-B7C0-AD99F8954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91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64667-E269-4945-B7C0-AD99F8954A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92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2225B-E41B-77C0-1A23-7FE91583A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A84B7F-BF54-53DE-5ED7-2CDED8A4B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18E42-7938-EBF6-0BBB-C03E98259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4C66D-7C77-1BC2-E297-5581F607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71FE2-01D7-8CFA-F772-2A12DADA9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76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69414-E7DE-B18D-3123-DBD0283DA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AEC70-B92A-CC7C-576E-A961A566D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0CFBF-3986-2ECA-DC6E-B0EB5EEAE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622A7-D018-3314-6712-AC0A3E326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F858B-9E65-33C3-1330-DDC559B7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14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99EF2-BE12-339C-53A6-D7F37ED5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EA9B6-8FA8-149E-9646-FB301CFB1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25791-C68A-6622-2CC5-3C0B28333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B1C5-90B9-0823-9015-AF5F09CF9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9B8B6-BAA6-240F-60BE-518B08A68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101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3121-A2A6-067F-9BB5-431330CD0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61458-6F42-1FC6-02A5-B26BB0448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0A9E45-D816-7EFD-3CAA-178E16FA0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4DE17-8AF8-1452-3C2B-1E8AC11C0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04EE6-8A95-F57F-A192-3DE3AA413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7B0C8-4507-0579-A941-6A255E92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83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D41E2-A077-4FE6-C0D3-E53AD7692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D9F13-A5D4-37A3-1493-299424981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EE514-EB19-276A-D5A5-AD3B45285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4ECFBA-4BCE-DB10-1A82-A2D64F058E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FB50E7-10C2-3309-2CDC-0F66334ED7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1554FF-26AD-988B-1BE6-17295ED2C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EB7DB9-3BFA-EEC0-380B-FF6C9131A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18BED0-2F21-3460-79B8-7290A76A4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78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70D88-D9A6-E2BA-4D07-31B2E1E8C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9C88D8-4119-A0E3-1E19-520074B60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BD6728-10D0-DD4F-070F-D8887DC40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1F0AF4-0EB8-E3C6-BC9D-0F225B0D6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913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305AF-CB28-6234-0989-07022337F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B88D4-A6C0-E1B7-8994-A86076DAC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BBE91-403E-73E0-6DB4-5910441B7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80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51ACB-DC8B-620D-E3BF-7FA852E0A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1B764-533F-1B5D-0611-138F69934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B5571B-161E-E09A-5698-4A40CFD31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211E9-C5AE-278A-0394-D5A3F4277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A9B3E-94F2-61BE-DDC5-42C051384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52E40-E8E1-BD3E-81E3-532D7B29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00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F0294-46E3-230A-33FB-B650A56B8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C59121-E297-856F-8ED2-F9B862BEEC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4B73E-5B9E-91E2-5353-C491A0CF9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4E462-7BB8-F752-941C-B91D0022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8DAB4-C59B-C493-7D76-5E1C91DA5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DC2E0-CCB3-2997-598A-4720CC284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03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79BFA-EF8F-EA09-32AE-D64B8AE7D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6459FB-C2B4-23D4-5E49-19DBA37F4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53C33-E5A3-B4F5-E8BF-0885DE881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3BEFD-E011-F7CA-9B31-F27B73919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99C5A-F8B7-9E90-F8CD-0F9D22014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137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C63739-7054-0E76-0B25-A01771D40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8EBE8-732F-CBA6-F8BB-30CF1BAE2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9432A-8B6F-76F0-0D7B-30A66B962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8D616-BCA7-5689-02D1-3CA3EA884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83D8B-7730-9BA0-75AA-DC12AF5D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253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BEEC88-9CA5-4612-35B7-82E0244A7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DCC53-C329-CE13-38A1-EB94C1E16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1CA58-D0E5-D20E-2F11-B1014BAA02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C86BF-26DF-47F2-BBA6-FB99F1E1025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4645D-A023-304B-CF92-E94304A16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39631-FBA3-5F80-C564-B320E69D3D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09B860-F767-CF44-CE1F-64E3F076B1F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78488" y="6672580"/>
            <a:ext cx="8556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General - RPS Data</a:t>
            </a:r>
          </a:p>
        </p:txBody>
      </p:sp>
    </p:spTree>
    <p:extLst>
      <p:ext uri="{BB962C8B-B14F-4D97-AF65-F5344CB8AC3E}">
        <p14:creationId xmlns:p14="http://schemas.microsoft.com/office/powerpoint/2010/main" val="3411653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2"/>
          <a:srcRect l="1" r="-387" b="18588"/>
          <a:stretch/>
        </p:blipFill>
        <p:spPr>
          <a:xfrm>
            <a:off x="366227" y="237669"/>
            <a:ext cx="1212311" cy="788699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66227" y="1503753"/>
            <a:ext cx="11555519" cy="998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25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WIPRO NGA Program </a:t>
            </a:r>
            <a:r>
              <a:rPr lang="en-US" sz="28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25SUB4508_LSP</a:t>
            </a:r>
            <a:endParaRPr lang="en-US" sz="28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66227" y="3275236"/>
            <a:ext cx="6780319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Capstone Project Presentation – 13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Feb2026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6226" y="6140450"/>
            <a:ext cx="4172935" cy="221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67"/>
              </a:lnSpc>
              <a:spcBef>
                <a:spcPct val="0"/>
              </a:spcBef>
            </a:pPr>
            <a:r>
              <a:rPr lang="en-US" sz="1333" spc="133" dirty="0">
                <a:solidFill>
                  <a:srgbClr val="FFFFFF"/>
                </a:solidFill>
                <a:latin typeface="HK Grotesk Light Bold"/>
              </a:rPr>
              <a:t>www.rpsconsulting.in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ED66556B-B256-8D8D-E60E-0C5895B5FFA5}"/>
              </a:ext>
            </a:extLst>
          </p:cNvPr>
          <p:cNvSpPr txBox="1"/>
          <p:nvPr/>
        </p:nvSpPr>
        <p:spPr>
          <a:xfrm>
            <a:off x="366226" y="5061410"/>
            <a:ext cx="6780319" cy="295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Presented by - </a:t>
            </a:r>
            <a:r>
              <a:rPr lang="en-US" sz="2400" b="1" dirty="0">
                <a:solidFill>
                  <a:schemeClr val="bg1"/>
                </a:solidFill>
              </a:rPr>
              <a:t>25SUB4508_LSP_BatchGroup_04</a:t>
            </a:r>
            <a:endParaRPr lang="en-US" sz="2400" b="1" dirty="0">
              <a:solidFill>
                <a:schemeClr val="bg1"/>
              </a:solidFill>
              <a:latin typeface="HK Grotesk" pitchFamily="2" charset="77"/>
            </a:endParaRP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21F87AA7-2FEF-9248-CC8B-6951622F8F14}"/>
              </a:ext>
            </a:extLst>
          </p:cNvPr>
          <p:cNvSpPr txBox="1"/>
          <p:nvPr/>
        </p:nvSpPr>
        <p:spPr>
          <a:xfrm>
            <a:off x="366227" y="4136906"/>
            <a:ext cx="6780319" cy="578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Project Title Here - </a:t>
            </a:r>
            <a:r>
              <a:rPr lang="en-US" sz="2400" b="1" dirty="0">
                <a:solidFill>
                  <a:schemeClr val="bg1"/>
                </a:solidFill>
              </a:rPr>
              <a:t>Enterprise Concurrent Signal Broadcast Framework (ECSBF)</a:t>
            </a:r>
            <a:endParaRPr lang="en-US" sz="2400" b="1" dirty="0">
              <a:solidFill>
                <a:schemeClr val="bg1"/>
              </a:solidFill>
              <a:latin typeface="HK Grotesk" pitchFamily="2" charset="7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AE17-255B-EFAF-AB19-35D5726D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E3526C0-0D62-E999-846D-539DB0F96A06}"/>
              </a:ext>
            </a:extLst>
          </p:cNvPr>
          <p:cNvSpPr/>
          <p:nvPr/>
        </p:nvSpPr>
        <p:spPr>
          <a:xfrm>
            <a:off x="431513" y="693628"/>
            <a:ext cx="10102565" cy="6924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4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Introduction:</a:t>
            </a:r>
            <a:endParaRPr lang="en-US" sz="4500" b="1" dirty="0">
              <a:solidFill>
                <a:schemeClr val="tx2">
                  <a:lumMod val="90000"/>
                  <a:lumOff val="10000"/>
                </a:schemeClr>
              </a:solidFill>
              <a:latin typeface="HK Grotesk Bold"/>
            </a:endParaRP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E32E4E7-27A9-CE4B-8AB0-AA5E86AA8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222EB71-F821-F852-BAE8-F9C461EA6C9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2026 -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4C8-542D-6BAC-F31C-291E314E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007496-F368-3166-0EBA-897CA0BE5948}"/>
              </a:ext>
            </a:extLst>
          </p:cNvPr>
          <p:cNvSpPr txBox="1"/>
          <p:nvPr/>
        </p:nvSpPr>
        <p:spPr>
          <a:xfrm>
            <a:off x="102821" y="88524"/>
            <a:ext cx="6431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Enterprise Concurrent Signal Broadcast Framework (ECSBF)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1BEF40B-6E89-05D2-3DB6-2517EC7D7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96" y="1621897"/>
            <a:ext cx="10959184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A high-performance distributed communication framework for real-time signal propagation.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Designed to enable secure and reliable communication across multiple networked nodes.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Uses a centralized Engine to manage authentication, sessions, and broadcasting.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Built with concurrency, fault tolerance, and encryption as core principles.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Ensures synchronized, traceable, and secure enterprise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4051022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7A62F2-96B2-7E20-D7A1-F5A1FA9EA119}"/>
              </a:ext>
            </a:extLst>
          </p:cNvPr>
          <p:cNvSpPr txBox="1"/>
          <p:nvPr/>
        </p:nvSpPr>
        <p:spPr>
          <a:xfrm>
            <a:off x="79513" y="79513"/>
            <a:ext cx="6431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Enterprise Concurrent Signal Broadcast Framework (ECSBF)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CD17D9-5EC2-59FB-3C82-0A514A56F55E}"/>
              </a:ext>
            </a:extLst>
          </p:cNvPr>
          <p:cNvSpPr txBox="1"/>
          <p:nvPr/>
        </p:nvSpPr>
        <p:spPr>
          <a:xfrm>
            <a:off x="369105" y="673714"/>
            <a:ext cx="703695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PROBLEM STATEMENT: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1B6BDB64-0A9B-0BEC-0154-9ED708342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393" y="1683413"/>
            <a:ext cx="10603214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Distributed systems require secure and synchronized real-time communication.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Managing multiple concurrent node connections is complex and error-prone.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Unauthorized access can lead to signal injection and security breaches.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Network failures may disrupt sessions and cause data inconsistency.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Lack of centralized observability makes debugging and monitoring difficult</a:t>
            </a:r>
          </a:p>
        </p:txBody>
      </p:sp>
    </p:spTree>
    <p:extLst>
      <p:ext uri="{BB962C8B-B14F-4D97-AF65-F5344CB8AC3E}">
        <p14:creationId xmlns:p14="http://schemas.microsoft.com/office/powerpoint/2010/main" val="1825707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F30509-AD31-157A-3371-E6F8B14F5BA8}"/>
              </a:ext>
            </a:extLst>
          </p:cNvPr>
          <p:cNvSpPr txBox="1"/>
          <p:nvPr/>
        </p:nvSpPr>
        <p:spPr>
          <a:xfrm>
            <a:off x="496956" y="633023"/>
            <a:ext cx="3115918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SOLUTION: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257A12-7481-04E0-14CF-17E0DEE5D0B3}"/>
              </a:ext>
            </a:extLst>
          </p:cNvPr>
          <p:cNvSpPr txBox="1"/>
          <p:nvPr/>
        </p:nvSpPr>
        <p:spPr>
          <a:xfrm>
            <a:off x="69574" y="39757"/>
            <a:ext cx="6431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Enterprise Concurrent Signal Broadcast Framework (ECSBF)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12D71DC-BA69-5478-4859-45BA51E85D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154" y="1641787"/>
            <a:ext cx="9598914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Centralized ECSBF Engine manages all node communication securely.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Global Identity Registry ensures only provisioned nodes can connect.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Multi-threaded concurrency engine handles simultaneous signal requests.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Encrypted signal broadcasting ensures confidentiality and integrity.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Diagnostic logging provides observability and system transparency.</a:t>
            </a:r>
          </a:p>
        </p:txBody>
      </p:sp>
    </p:spTree>
    <p:extLst>
      <p:ext uri="{BB962C8B-B14F-4D97-AF65-F5344CB8AC3E}">
        <p14:creationId xmlns:p14="http://schemas.microsoft.com/office/powerpoint/2010/main" val="1517157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C0223-C5C0-28B2-7383-E246A29B1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4AB920-B135-2579-D17B-1D03AD3B1A33}"/>
              </a:ext>
            </a:extLst>
          </p:cNvPr>
          <p:cNvSpPr txBox="1"/>
          <p:nvPr/>
        </p:nvSpPr>
        <p:spPr>
          <a:xfrm>
            <a:off x="79513" y="79513"/>
            <a:ext cx="6431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Enterprise Concurrent Signal Broadcast Framework (ECSBF)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D5C250-A90C-4650-2B93-3206F35F5153}"/>
              </a:ext>
            </a:extLst>
          </p:cNvPr>
          <p:cNvSpPr txBox="1"/>
          <p:nvPr/>
        </p:nvSpPr>
        <p:spPr>
          <a:xfrm>
            <a:off x="380678" y="530844"/>
            <a:ext cx="874847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WORKFLOW: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8C67CE9-21D2-12BB-0B94-DF46F2768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107" y="1302508"/>
            <a:ext cx="8503663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Endpoint Nodes connect to the ECSBF Engine via secure TCP/IP channels.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Secure handshake verifies node identity before session establishment.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Engine Control Process manages authentication and validation.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Concurrency Engine processes signals from multiple nodes simultaneously.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Signal Broadcaster distributes validated signals to all active nodes.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Diagnostic Logger records system activities at multiple severity levels.</a:t>
            </a:r>
          </a:p>
        </p:txBody>
      </p:sp>
    </p:spTree>
    <p:extLst>
      <p:ext uri="{BB962C8B-B14F-4D97-AF65-F5344CB8AC3E}">
        <p14:creationId xmlns:p14="http://schemas.microsoft.com/office/powerpoint/2010/main" val="1813373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DDE8F-4D39-A14A-A590-B9D0F08FB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5EB72D-D8A2-2B33-6090-C8405A6D3730}"/>
              </a:ext>
            </a:extLst>
          </p:cNvPr>
          <p:cNvSpPr txBox="1"/>
          <p:nvPr/>
        </p:nvSpPr>
        <p:spPr>
          <a:xfrm>
            <a:off x="79513" y="79513"/>
            <a:ext cx="6431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Enterprise Concurrent Signal Broadcast Framework (ECSBF)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EE4D76-DA0F-8954-A10A-A2CCBEED9B1E}"/>
              </a:ext>
            </a:extLst>
          </p:cNvPr>
          <p:cNvSpPr txBox="1"/>
          <p:nvPr/>
        </p:nvSpPr>
        <p:spPr>
          <a:xfrm>
            <a:off x="345828" y="448845"/>
            <a:ext cx="87484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SYSTEM ARCHITECTURE DIAGRAM</a:t>
            </a:r>
            <a:endParaRPr lang="en-US" sz="35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105C39-775E-6ADE-DB90-4452AB8846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6510" y="957468"/>
            <a:ext cx="3287960" cy="575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092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9770C-8C2F-FC02-4A36-B40169A67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611A15-7220-81B3-E73E-FF41B694820F}"/>
              </a:ext>
            </a:extLst>
          </p:cNvPr>
          <p:cNvSpPr txBox="1"/>
          <p:nvPr/>
        </p:nvSpPr>
        <p:spPr>
          <a:xfrm>
            <a:off x="79513" y="79513"/>
            <a:ext cx="6431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Enterprise Concurrent Signal Broadcast Framework (ECSBF)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277B3B-6A46-BA5B-83C9-0015EB5BF0D6}"/>
              </a:ext>
            </a:extLst>
          </p:cNvPr>
          <p:cNvSpPr txBox="1"/>
          <p:nvPr/>
        </p:nvSpPr>
        <p:spPr>
          <a:xfrm>
            <a:off x="288081" y="448845"/>
            <a:ext cx="98513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PRACTICAL OUTCOMES – STEP 1 (Node Registration &amp; Session Setup)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FE64628-CA79-5938-D269-32EE3B8C4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970" y="2295505"/>
            <a:ext cx="8611564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Node initiates secure connection request to the Engine.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Engine verifies identity from Global Identity Registry.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Successful verification establishes a persistent session.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Unauthorized nodes are rejected and logged securely.</a:t>
            </a:r>
          </a:p>
        </p:txBody>
      </p:sp>
    </p:spTree>
    <p:extLst>
      <p:ext uri="{BB962C8B-B14F-4D97-AF65-F5344CB8AC3E}">
        <p14:creationId xmlns:p14="http://schemas.microsoft.com/office/powerpoint/2010/main" val="4275774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DA31B-E66A-332B-6676-542CEA79E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876730-C082-F470-D6CC-0058C4BB0C5E}"/>
              </a:ext>
            </a:extLst>
          </p:cNvPr>
          <p:cNvSpPr txBox="1"/>
          <p:nvPr/>
        </p:nvSpPr>
        <p:spPr>
          <a:xfrm>
            <a:off x="79513" y="79513"/>
            <a:ext cx="6431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Enterprise Concurrent Signal Broadcast Framework (ECSBF)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90B30C-85D5-B411-DCFC-219C1E2008AF}"/>
              </a:ext>
            </a:extLst>
          </p:cNvPr>
          <p:cNvSpPr txBox="1"/>
          <p:nvPr/>
        </p:nvSpPr>
        <p:spPr>
          <a:xfrm>
            <a:off x="415402" y="889659"/>
            <a:ext cx="87484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[Insert Screenshot: Node Registration / Successful Connection Output]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307576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DECE3-0618-1D29-A0C9-38EFD26D5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85B2AD-3CF9-C945-D4D1-EA1E06833C51}"/>
              </a:ext>
            </a:extLst>
          </p:cNvPr>
          <p:cNvSpPr txBox="1"/>
          <p:nvPr/>
        </p:nvSpPr>
        <p:spPr>
          <a:xfrm>
            <a:off x="79513" y="79513"/>
            <a:ext cx="6431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Enterprise Concurrent Signal Broadcast Framework (ECSBF)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529E5B-34C3-B84A-6852-E42F0CAAA2B7}"/>
              </a:ext>
            </a:extLst>
          </p:cNvPr>
          <p:cNvSpPr txBox="1"/>
          <p:nvPr/>
        </p:nvSpPr>
        <p:spPr>
          <a:xfrm>
            <a:off x="288080" y="448845"/>
            <a:ext cx="106654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PRACTICAL OUTCOMES – STEP 2 (</a:t>
            </a:r>
            <a:r>
              <a:rPr lang="en-US" sz="4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Signal Transmission &amp; Broadcasting</a:t>
            </a:r>
            <a:r>
              <a:rPr lang="en-US" sz="4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)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E0F1E4B-4762-7536-0527-A93337A851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249" y="2387837"/>
            <a:ext cx="8843059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Authenticated node sends encrypted signal payload to Engine.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Engine validates active session before processing signal.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Signal is tagged with source identifier for traceability.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Broadcast mechanism sends signal to all active nodes concurrently.</a:t>
            </a:r>
          </a:p>
        </p:txBody>
      </p:sp>
    </p:spTree>
    <p:extLst>
      <p:ext uri="{BB962C8B-B14F-4D97-AF65-F5344CB8AC3E}">
        <p14:creationId xmlns:p14="http://schemas.microsoft.com/office/powerpoint/2010/main" val="582062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316C9-0F9B-AF96-D7DA-9E8ED04F4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A42F6D-B80A-E340-570C-591591FDEE75}"/>
              </a:ext>
            </a:extLst>
          </p:cNvPr>
          <p:cNvSpPr txBox="1"/>
          <p:nvPr/>
        </p:nvSpPr>
        <p:spPr>
          <a:xfrm>
            <a:off x="79513" y="79513"/>
            <a:ext cx="6431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Enterprise Concurrent Signal Broadcast Framework (ECSBF)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09CD51-164B-8AAA-641C-72A1BD6DAA3C}"/>
              </a:ext>
            </a:extLst>
          </p:cNvPr>
          <p:cNvSpPr txBox="1"/>
          <p:nvPr/>
        </p:nvSpPr>
        <p:spPr>
          <a:xfrm>
            <a:off x="415402" y="889659"/>
            <a:ext cx="87484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[Insert Screenshot: Signal Sent &amp; Broadcast Output]</a:t>
            </a:r>
          </a:p>
        </p:txBody>
      </p:sp>
    </p:spTree>
    <p:extLst>
      <p:ext uri="{BB962C8B-B14F-4D97-AF65-F5344CB8AC3E}">
        <p14:creationId xmlns:p14="http://schemas.microsoft.com/office/powerpoint/2010/main" val="2618199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7E6DC-412C-61C9-1942-EA4E71D85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E25E8F-59BA-D390-B7D6-07254E3BB4BD}"/>
              </a:ext>
            </a:extLst>
          </p:cNvPr>
          <p:cNvSpPr txBox="1"/>
          <p:nvPr/>
        </p:nvSpPr>
        <p:spPr>
          <a:xfrm>
            <a:off x="79513" y="79513"/>
            <a:ext cx="6431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Enterprise Concurrent Signal Broadcast Framework (ECSBF)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54AABA-14E6-521B-7216-FD0A117B0B53}"/>
              </a:ext>
            </a:extLst>
          </p:cNvPr>
          <p:cNvSpPr txBox="1"/>
          <p:nvPr/>
        </p:nvSpPr>
        <p:spPr>
          <a:xfrm>
            <a:off x="288080" y="448845"/>
            <a:ext cx="106654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PRACTICAL OUTCOMES – STEP 3 (Concurrent Processing &amp; Logging)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B8EB48-DAAB-7451-5A06-38D194922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998" y="2387837"/>
            <a:ext cx="8171726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Engine handles multiple node signals using multi-threading.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Sessions remain stable under simultaneous traffic load.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Diagnostic logs capture INFO, WARNING, DEBUG, and FATAL events.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System maintains low latency and real-time propagation.</a:t>
            </a:r>
          </a:p>
        </p:txBody>
      </p:sp>
    </p:spTree>
    <p:extLst>
      <p:ext uri="{BB962C8B-B14F-4D97-AF65-F5344CB8AC3E}">
        <p14:creationId xmlns:p14="http://schemas.microsoft.com/office/powerpoint/2010/main" val="1502735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CFC74-0DCD-8352-5820-A0B38395A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557345-FC42-7220-659D-1B819F25A21F}"/>
              </a:ext>
            </a:extLst>
          </p:cNvPr>
          <p:cNvSpPr txBox="1"/>
          <p:nvPr/>
        </p:nvSpPr>
        <p:spPr>
          <a:xfrm>
            <a:off x="79513" y="79513"/>
            <a:ext cx="6431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Enterprise Concurrent Signal Broadcast Framework (ECSBF)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7F8F1B-90E4-9036-95C9-77F13036AC26}"/>
              </a:ext>
            </a:extLst>
          </p:cNvPr>
          <p:cNvSpPr txBox="1"/>
          <p:nvPr/>
        </p:nvSpPr>
        <p:spPr>
          <a:xfrm>
            <a:off x="345954" y="797062"/>
            <a:ext cx="87484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[Insert Screenshot: Concurrent Logs / Multi-thread Execution]</a:t>
            </a:r>
          </a:p>
        </p:txBody>
      </p:sp>
    </p:spTree>
    <p:extLst>
      <p:ext uri="{BB962C8B-B14F-4D97-AF65-F5344CB8AC3E}">
        <p14:creationId xmlns:p14="http://schemas.microsoft.com/office/powerpoint/2010/main" val="25279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B0CB8-2CD7-96BA-9CB6-91BFC1EAF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FD79E6-E7E1-6D14-A121-8C527EE7E77D}"/>
              </a:ext>
            </a:extLst>
          </p:cNvPr>
          <p:cNvSpPr txBox="1"/>
          <p:nvPr/>
        </p:nvSpPr>
        <p:spPr>
          <a:xfrm>
            <a:off x="79513" y="79513"/>
            <a:ext cx="6431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Enterprise Concurrent Signal Broadcast Framework (ECSBF)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5123C4-485D-EB66-6870-E4953ADDCC46}"/>
              </a:ext>
            </a:extLst>
          </p:cNvPr>
          <p:cNvSpPr txBox="1"/>
          <p:nvPr/>
        </p:nvSpPr>
        <p:spPr>
          <a:xfrm>
            <a:off x="288080" y="448845"/>
            <a:ext cx="106654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PRACTICAL OUTCOMES – STEP 4 (Session Termination)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3C71A0A-E617-C785-422B-3FE282B73B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296" y="2295505"/>
            <a:ext cx="7917083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Engine detects node disconnection or timeout event.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Session is formally terminated to prevent orphan processes.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Associated resources are purged to maintain system efficiency.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Logging mechanism records session closure event.</a:t>
            </a:r>
          </a:p>
        </p:txBody>
      </p:sp>
    </p:spTree>
    <p:extLst>
      <p:ext uri="{BB962C8B-B14F-4D97-AF65-F5344CB8AC3E}">
        <p14:creationId xmlns:p14="http://schemas.microsoft.com/office/powerpoint/2010/main" val="24492371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4E74B-2B6A-CEB8-3F0D-6F0A69FE1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928FDC-E707-0405-A55F-BF65BD22BA9F}"/>
              </a:ext>
            </a:extLst>
          </p:cNvPr>
          <p:cNvSpPr txBox="1"/>
          <p:nvPr/>
        </p:nvSpPr>
        <p:spPr>
          <a:xfrm>
            <a:off x="79513" y="79513"/>
            <a:ext cx="6431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Enterprise Concurrent Signal Broadcast Framework (ECSBF)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87B32A-327E-A82D-48F8-EC12E080F191}"/>
              </a:ext>
            </a:extLst>
          </p:cNvPr>
          <p:cNvSpPr txBox="1"/>
          <p:nvPr/>
        </p:nvSpPr>
        <p:spPr>
          <a:xfrm>
            <a:off x="415402" y="889659"/>
            <a:ext cx="87484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[Insert Screenshot: </a:t>
            </a:r>
            <a:r>
              <a:rPr lang="en-US" sz="3600" dirty="0"/>
              <a:t>Session Termination Output</a:t>
            </a:r>
            <a:r>
              <a:rPr lang="en-US" sz="3600" b="1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4859384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9B1E9-78EB-9DD1-B1AE-815C5D94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3606E6-6E4A-B424-FF9F-399B7C2F6FB5}"/>
              </a:ext>
            </a:extLst>
          </p:cNvPr>
          <p:cNvSpPr txBox="1"/>
          <p:nvPr/>
        </p:nvSpPr>
        <p:spPr>
          <a:xfrm>
            <a:off x="496956" y="633023"/>
            <a:ext cx="3706784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LIMITATIONS: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964AB7-E64C-7ACE-AF58-D0710D14C06A}"/>
              </a:ext>
            </a:extLst>
          </p:cNvPr>
          <p:cNvSpPr txBox="1"/>
          <p:nvPr/>
        </p:nvSpPr>
        <p:spPr>
          <a:xfrm>
            <a:off x="69574" y="39757"/>
            <a:ext cx="6431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Enterprise Concurrent Signal Broadcast Framework (ECSBF)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8B1E14A-D78D-657B-FF63-8AF355D7A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7179" y="1641787"/>
            <a:ext cx="8906497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Requires stable TCP/IP network connectivity for optimal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Centralized Engine may become bottleneck under extreme scale.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Currently backend-focused with no dedicated graphical UI.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Performance depends on underlying hardware and OS thread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Encryption overhead may slightly increase processing latency.</a:t>
            </a:r>
          </a:p>
        </p:txBody>
      </p:sp>
    </p:spTree>
    <p:extLst>
      <p:ext uri="{BB962C8B-B14F-4D97-AF65-F5344CB8AC3E}">
        <p14:creationId xmlns:p14="http://schemas.microsoft.com/office/powerpoint/2010/main" val="4027719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652F8-C1D0-CEA7-9528-D1081F71D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585FC8-63E7-669D-40FB-B3EB0A4FEB42}"/>
              </a:ext>
            </a:extLst>
          </p:cNvPr>
          <p:cNvSpPr txBox="1"/>
          <p:nvPr/>
        </p:nvSpPr>
        <p:spPr>
          <a:xfrm>
            <a:off x="496956" y="633023"/>
            <a:ext cx="4052456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5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CONCLUSION: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0A846B-AB22-C189-E8DE-F353E16F811C}"/>
              </a:ext>
            </a:extLst>
          </p:cNvPr>
          <p:cNvSpPr txBox="1"/>
          <p:nvPr/>
        </p:nvSpPr>
        <p:spPr>
          <a:xfrm>
            <a:off x="69574" y="39757"/>
            <a:ext cx="6431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Enterprise Concurrent Signal Broadcast Framework (ECSBF)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F94E71C-22F2-1E36-2F39-34F6CDCB2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0148" y="1638202"/>
            <a:ext cx="8333772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ECSBF provides secure, scalable, and concurrent signal broadcasting.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Strong identity verification prevents unauthorized system access.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Multi-threaded architecture ensures high-performance communication.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Persistent session management enhances reliability and resilience.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Modular and extensible design supports future enterprise enhancements.</a:t>
            </a:r>
          </a:p>
        </p:txBody>
      </p:sp>
    </p:spTree>
    <p:extLst>
      <p:ext uri="{BB962C8B-B14F-4D97-AF65-F5344CB8AC3E}">
        <p14:creationId xmlns:p14="http://schemas.microsoft.com/office/powerpoint/2010/main" val="14398437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F9BB64-062E-7CB6-58A1-6078FEB545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833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2945</TotalTime>
  <Words>703</Words>
  <Application>Microsoft Office PowerPoint</Application>
  <PresentationFormat>Widescreen</PresentationFormat>
  <Paragraphs>85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HK Grotesk</vt:lpstr>
      <vt:lpstr>HK Grotesk Bold</vt:lpstr>
      <vt:lpstr>HK Grotesk Light</vt:lpstr>
      <vt:lpstr>HK Grotesk Light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Satish M</dc:creator>
  <cp:lastModifiedBy>56133-Souvik Roy</cp:lastModifiedBy>
  <cp:revision>17</cp:revision>
  <dcterms:created xsi:type="dcterms:W3CDTF">2024-05-04T13:11:57Z</dcterms:created>
  <dcterms:modified xsi:type="dcterms:W3CDTF">2026-02-12T09:20:56Z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0f486e-1d0b-4fd6-a73f-04d94048a140_Enabled">
    <vt:lpwstr>true</vt:lpwstr>
  </property>
  <property fmtid="{D5CDD505-2E9C-101B-9397-08002B2CF9AE}" pid="3" name="MSIP_Label_e80f486e-1d0b-4fd6-a73f-04d94048a140_SetDate">
    <vt:lpwstr>2026-02-04T04:06:58Z</vt:lpwstr>
  </property>
  <property fmtid="{D5CDD505-2E9C-101B-9397-08002B2CF9AE}" pid="4" name="MSIP_Label_e80f486e-1d0b-4fd6-a73f-04d94048a140_Method">
    <vt:lpwstr>Standard</vt:lpwstr>
  </property>
  <property fmtid="{D5CDD505-2E9C-101B-9397-08002B2CF9AE}" pid="5" name="MSIP_Label_e80f486e-1d0b-4fd6-a73f-04d94048a140_Name">
    <vt:lpwstr>General - RPS Data</vt:lpwstr>
  </property>
  <property fmtid="{D5CDD505-2E9C-101B-9397-08002B2CF9AE}" pid="6" name="MSIP_Label_e80f486e-1d0b-4fd6-a73f-04d94048a140_SiteId">
    <vt:lpwstr>6565c732-1653-4ffe-b9d3-80a4f1c0c25d</vt:lpwstr>
  </property>
  <property fmtid="{D5CDD505-2E9C-101B-9397-08002B2CF9AE}" pid="7" name="MSIP_Label_e80f486e-1d0b-4fd6-a73f-04d94048a140_ActionId">
    <vt:lpwstr>0c3cc09a-e54e-4ae4-a9fa-efa3f9d629ce</vt:lpwstr>
  </property>
  <property fmtid="{D5CDD505-2E9C-101B-9397-08002B2CF9AE}" pid="8" name="MSIP_Label_e80f486e-1d0b-4fd6-a73f-04d94048a140_ContentBits">
    <vt:lpwstr>2</vt:lpwstr>
  </property>
  <property fmtid="{D5CDD505-2E9C-101B-9397-08002B2CF9AE}" pid="9" name="MSIP_Label_e80f486e-1d0b-4fd6-a73f-04d94048a140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General - RPS Data</vt:lpwstr>
  </property>
</Properties>
</file>